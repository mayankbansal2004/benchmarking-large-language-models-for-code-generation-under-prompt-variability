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085a8c5ef_0_9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e085a8c5ef_0_9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e085a8c5ef_0_9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0" y="0"/>
            <a:ext cx="5486100" cy="4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3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3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3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457200" y="160452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2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3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4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45720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2" type="body"/>
          </p:nvPr>
        </p:nvSpPr>
        <p:spPr>
          <a:xfrm>
            <a:off x="323964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3" type="body"/>
          </p:nvPr>
        </p:nvSpPr>
        <p:spPr>
          <a:xfrm>
            <a:off x="602208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4" type="body"/>
          </p:nvPr>
        </p:nvSpPr>
        <p:spPr>
          <a:xfrm>
            <a:off x="45720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5" type="body"/>
          </p:nvPr>
        </p:nvSpPr>
        <p:spPr>
          <a:xfrm>
            <a:off x="323964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6" type="body"/>
          </p:nvPr>
        </p:nvSpPr>
        <p:spPr>
          <a:xfrm>
            <a:off x="602208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 flipH="1" rot="10800000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81" name="Google Shape;81;p1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82" name="Google Shape;82;p1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4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84" name="Google Shape;84;p14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85" name="Google Shape;85;p1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4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87" name="Google Shape;8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88" name="Google Shape;88;p1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4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90" name="Google Shape;90;p14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91" name="Google Shape;91;p1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4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93" name="Google Shape;9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Benchmarking LLMs for Code Generation Under Prompt Variability</a:t>
            </a:r>
            <a:endParaRPr b="0" i="1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Dharuv Singla(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2210990268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Mayank Bansal(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2210991904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 Bhatia(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2210991487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Preeti Saini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-1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-594998" y="2254697"/>
            <a:ext cx="9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381000" y="952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Gap in Current LLM Benchmarks</a:t>
            </a:r>
            <a:endParaRPr b="1" i="0" sz="2200" u="none" cap="none" strike="noStrike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1" name="Google Shape;161;p28"/>
          <p:cNvGrpSpPr/>
          <p:nvPr/>
        </p:nvGrpSpPr>
        <p:grpSpPr>
          <a:xfrm>
            <a:off x="381000" y="1524000"/>
            <a:ext cx="4095900" cy="1714500"/>
            <a:chOff x="381000" y="1524000"/>
            <a:chExt cx="4095900" cy="1714500"/>
          </a:xfrm>
        </p:grpSpPr>
        <p:sp>
          <p:nvSpPr>
            <p:cNvPr id="162" name="Google Shape;162;p28"/>
            <p:cNvSpPr/>
            <p:nvPr/>
          </p:nvSpPr>
          <p:spPr>
            <a:xfrm>
              <a:off x="381000" y="15240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381000" y="15240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8"/>
            <p:cNvSpPr txBox="1"/>
            <p:nvPr/>
          </p:nvSpPr>
          <p:spPr>
            <a:xfrm>
              <a:off x="571500" y="1524000"/>
              <a:ext cx="3714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Problem</a:t>
              </a:r>
              <a:endParaRPr b="1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Benchmark Disconnect</a:t>
              </a:r>
              <a:endParaRPr b="1" i="0" sz="14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 coding benchmarks test models on clean, perfectly structured prompts. Real-world developers often use messy, minimal, or semi-structured prompts.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5" name="Google Shape;165;p28"/>
          <p:cNvGrpSpPr/>
          <p:nvPr/>
        </p:nvGrpSpPr>
        <p:grpSpPr>
          <a:xfrm>
            <a:off x="4667250" y="1524000"/>
            <a:ext cx="4095900" cy="1714500"/>
            <a:chOff x="4667250" y="1524000"/>
            <a:chExt cx="4095900" cy="1714500"/>
          </a:xfrm>
        </p:grpSpPr>
        <p:sp>
          <p:nvSpPr>
            <p:cNvPr id="166" name="Google Shape;166;p28"/>
            <p:cNvSpPr/>
            <p:nvPr/>
          </p:nvSpPr>
          <p:spPr>
            <a:xfrm>
              <a:off x="4667250" y="1524000"/>
              <a:ext cx="40959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4667250" y="152400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8"/>
            <p:cNvSpPr txBox="1"/>
            <p:nvPr/>
          </p:nvSpPr>
          <p:spPr>
            <a:xfrm>
              <a:off x="4857750" y="1524000"/>
              <a:ext cx="3714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Objective</a:t>
              </a:r>
              <a:endParaRPr b="1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Evaluating Robustness</a:t>
              </a:r>
              <a:endParaRPr b="1" i="0" sz="14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evaluate how well AI coding assistants perform when "prompt discipline" drops.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9" name="Google Shape;169;p28"/>
          <p:cNvGrpSpPr/>
          <p:nvPr/>
        </p:nvGrpSpPr>
        <p:grpSpPr>
          <a:xfrm>
            <a:off x="381000" y="3429000"/>
            <a:ext cx="8382000" cy="2286000"/>
            <a:chOff x="381000" y="3429000"/>
            <a:chExt cx="8382000" cy="2286000"/>
          </a:xfrm>
        </p:grpSpPr>
        <p:sp>
          <p:nvSpPr>
            <p:cNvPr id="170" name="Google Shape;170;p28"/>
            <p:cNvSpPr/>
            <p:nvPr/>
          </p:nvSpPr>
          <p:spPr>
            <a:xfrm>
              <a:off x="381000" y="3429000"/>
              <a:ext cx="8382000" cy="2286000"/>
            </a:xfrm>
            <a:prstGeom prst="roundRect">
              <a:avLst>
                <a:gd fmla="val 5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8"/>
            <p:cNvSpPr txBox="1"/>
            <p:nvPr/>
          </p:nvSpPr>
          <p:spPr>
            <a:xfrm>
              <a:off x="571500" y="361950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Scope: Rigorous East-West Comparison</a:t>
              </a:r>
              <a:endParaRPr b="1" i="0" sz="16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2" name="Google Shape;172;p28"/>
            <p:cNvGrpSpPr/>
            <p:nvPr/>
          </p:nvGrpSpPr>
          <p:grpSpPr>
            <a:xfrm>
              <a:off x="571500" y="4191000"/>
              <a:ext cx="3810000" cy="1238400"/>
              <a:chOff x="571500" y="4191000"/>
              <a:chExt cx="3810000" cy="1238400"/>
            </a:xfrm>
          </p:grpSpPr>
          <p:sp>
            <p:nvSpPr>
              <p:cNvPr id="173" name="Google Shape;173;p28"/>
              <p:cNvSpPr/>
              <p:nvPr/>
            </p:nvSpPr>
            <p:spPr>
              <a:xfrm>
                <a:off x="571500" y="4191000"/>
                <a:ext cx="38100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8"/>
              <p:cNvSpPr txBox="1"/>
              <p:nvPr/>
            </p:nvSpPr>
            <p:spPr>
              <a:xfrm>
                <a:off x="762000" y="4191000"/>
                <a:ext cx="3429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100" u="none" cap="none" strike="noStrike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Western Models</a:t>
                </a:r>
                <a:endParaRPr b="1" i="0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04800" lvl="0" marL="45720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F172A"/>
                  </a:buClr>
                  <a:buSzPts val="1200"/>
                  <a:buFont typeface="Times New Roman"/>
                  <a:buChar char="●"/>
                </a:pPr>
                <a:r>
                  <a:rPr b="0" i="0" lang="en-US" sz="1200" u="none" cap="none" strike="noStrike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Claude 3.7 Sonnet</a:t>
                </a:r>
                <a:endParaRPr b="0" i="0" sz="12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04800" lvl="0" marL="45720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F172A"/>
                  </a:buClr>
                  <a:buSzPts val="1200"/>
                  <a:buFont typeface="Times New Roman"/>
                  <a:buChar char="●"/>
                </a:pPr>
                <a:r>
                  <a:rPr b="0" i="0" lang="en-US" sz="1200" u="none" cap="none" strike="noStrike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Gemini 2.0 Flash</a:t>
                </a:r>
                <a:endParaRPr b="0" i="0" sz="12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04800" lvl="0" marL="45720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F172A"/>
                  </a:buClr>
                  <a:buSzPts val="1200"/>
                  <a:buFont typeface="Times New Roman"/>
                  <a:buChar char="●"/>
                </a:pPr>
                <a:r>
                  <a:rPr b="0" i="0" lang="en-US" sz="1200" u="none" cap="none" strike="noStrike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GPT-4o</a:t>
                </a:r>
                <a:endParaRPr b="0" i="0" sz="12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5" name="Google Shape;175;p28"/>
            <p:cNvGrpSpPr/>
            <p:nvPr/>
          </p:nvGrpSpPr>
          <p:grpSpPr>
            <a:xfrm>
              <a:off x="4572000" y="4191000"/>
              <a:ext cx="3810000" cy="1238400"/>
              <a:chOff x="4572000" y="4191000"/>
              <a:chExt cx="3810000" cy="1238400"/>
            </a:xfrm>
          </p:grpSpPr>
          <p:sp>
            <p:nvSpPr>
              <p:cNvPr id="176" name="Google Shape;176;p28"/>
              <p:cNvSpPr/>
              <p:nvPr/>
            </p:nvSpPr>
            <p:spPr>
              <a:xfrm>
                <a:off x="4572000" y="4191000"/>
                <a:ext cx="38100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8"/>
              <p:cNvSpPr txBox="1"/>
              <p:nvPr/>
            </p:nvSpPr>
            <p:spPr>
              <a:xfrm>
                <a:off x="4762500" y="4191000"/>
                <a:ext cx="3429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100" u="none" cap="none" strike="noStrike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Eastern Models</a:t>
                </a:r>
                <a:endParaRPr b="1" i="0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04800" lvl="0" marL="45720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F172A"/>
                  </a:buClr>
                  <a:buSzPts val="1200"/>
                  <a:buFont typeface="Times New Roman"/>
                  <a:buChar char="●"/>
                </a:pPr>
                <a:r>
                  <a:rPr b="0" i="0" lang="en-US" sz="1200" u="none" cap="none" strike="noStrike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GLM-4-Plus</a:t>
                </a:r>
                <a:endParaRPr b="0" i="0" sz="12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04800" lvl="0" marL="45720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F172A"/>
                  </a:buClr>
                  <a:buSzPts val="1200"/>
                  <a:buFont typeface="Times New Roman"/>
                  <a:buChar char="●"/>
                </a:pPr>
                <a:r>
                  <a:rPr b="0" i="0" lang="en-US" sz="1200" u="none" cap="none" strike="noStrike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MiniMax-M2</a:t>
                </a:r>
                <a:endParaRPr b="0" i="0" sz="12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04800" lvl="0" marL="45720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F172A"/>
                  </a:buClr>
                  <a:buSzPts val="1200"/>
                  <a:buFont typeface="Times New Roman"/>
                  <a:buChar char="●"/>
                </a:pPr>
                <a:r>
                  <a:rPr b="0" i="0" lang="en-US" sz="1200" u="none" cap="none" strike="noStrike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Kimi K2 Instruct</a:t>
                </a:r>
                <a:endParaRPr b="0" i="0" sz="12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/>
        </p:nvSpPr>
        <p:spPr>
          <a:xfrm>
            <a:off x="0" y="0"/>
            <a:ext cx="65133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5250" spcFirstLastPara="1" rIns="952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&amp; Evaluation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4" name="Google Shape;184;p29"/>
          <p:cNvGrpSpPr/>
          <p:nvPr/>
        </p:nvGrpSpPr>
        <p:grpSpPr>
          <a:xfrm>
            <a:off x="285750" y="1093375"/>
            <a:ext cx="4953000" cy="5524650"/>
            <a:chOff x="285750" y="1238250"/>
            <a:chExt cx="4953000" cy="5524650"/>
          </a:xfrm>
        </p:grpSpPr>
        <p:sp>
          <p:nvSpPr>
            <p:cNvPr id="185" name="Google Shape;185;p29"/>
            <p:cNvSpPr/>
            <p:nvPr/>
          </p:nvSpPr>
          <p:spPr>
            <a:xfrm>
              <a:off x="285750" y="1238250"/>
              <a:ext cx="49530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9"/>
            <p:cNvSpPr txBox="1"/>
            <p:nvPr/>
          </p:nvSpPr>
          <p:spPr>
            <a:xfrm>
              <a:off x="476250" y="1238250"/>
              <a:ext cx="4572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Task Dataset</a:t>
              </a:r>
              <a:endParaRPr b="1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150 Diverse Coding Tasks</a:t>
              </a:r>
              <a:endParaRPr b="1" i="0" sz="16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Algorithms, Debugging, Code Optimisation, and Documentation.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" name="Google Shape;187;p29"/>
            <p:cNvSpPr/>
            <p:nvPr/>
          </p:nvSpPr>
          <p:spPr>
            <a:xfrm>
              <a:off x="285750" y="2667000"/>
              <a:ext cx="49530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9"/>
            <p:cNvSpPr txBox="1"/>
            <p:nvPr/>
          </p:nvSpPr>
          <p:spPr>
            <a:xfrm>
              <a:off x="476250" y="2667000"/>
              <a:ext cx="4572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Prompt Formality Tiers</a:t>
              </a:r>
              <a:endParaRPr b="1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Structured (SP)</a:t>
              </a:r>
              <a:endParaRPr b="1" i="0" sz="13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Explicit instructions, edge cases, complexity limits.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Semi-Structured (SSP)</a:t>
              </a:r>
              <a:endParaRPr b="1" i="0" sz="13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Basic context without strict requirements.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Minimal (MP)</a:t>
              </a:r>
              <a:endParaRPr b="1" i="0" sz="13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Raw keyword sequences (e.g., "merge sort python").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29"/>
            <p:cNvSpPr/>
            <p:nvPr/>
          </p:nvSpPr>
          <p:spPr>
            <a:xfrm>
              <a:off x="285750" y="5524500"/>
              <a:ext cx="4953000" cy="1238400"/>
            </a:xfrm>
            <a:prstGeom prst="roundRect">
              <a:avLst>
                <a:gd fmla="val 923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9"/>
            <p:cNvSpPr txBox="1"/>
            <p:nvPr/>
          </p:nvSpPr>
          <p:spPr>
            <a:xfrm>
              <a:off x="476250" y="5524500"/>
              <a:ext cx="4572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Scoring Rubric</a:t>
              </a:r>
              <a:endParaRPr b="1" i="0" sz="11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10B98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40% Accuracy</a:t>
              </a:r>
              <a:r>
                <a:rPr b="0" i="0" lang="en-US" sz="1100" u="none" cap="none" strike="noStrike">
                  <a:solidFill>
                    <a:srgbClr val="F8FAF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• </a:t>
              </a:r>
              <a:r>
                <a:rPr b="1" i="0" lang="en-US" sz="1100" u="none" cap="none" strike="noStrike">
                  <a:solidFill>
                    <a:srgbClr val="3B82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25% Syntax</a:t>
              </a:r>
              <a:r>
                <a:rPr b="0" i="0" lang="en-US" sz="1100" u="none" cap="none" strike="noStrike">
                  <a:solidFill>
                    <a:srgbClr val="F8FAF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• </a:t>
              </a:r>
              <a:r>
                <a:rPr b="1" i="0" lang="en-US" sz="1100" u="none" cap="none" strike="noStrike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20% Optimisation</a:t>
              </a:r>
              <a:r>
                <a:rPr b="0" i="0" lang="en-US" sz="1100" u="none" cap="none" strike="noStrike">
                  <a:solidFill>
                    <a:srgbClr val="F8FAF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• </a:t>
              </a:r>
              <a:r>
                <a:rPr b="1" i="0" lang="en-US" sz="1100" u="none" cap="none" strike="noStrike">
                  <a:solidFill>
                    <a:srgbClr val="8B5C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15% Efficiency</a:t>
              </a:r>
              <a:endParaRPr b="0" i="0" sz="1100" u="none" cap="none" strike="noStrike">
                <a:solidFill>
                  <a:srgbClr val="F8FAF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1" name="Google Shape;191;p29"/>
          <p:cNvGrpSpPr/>
          <p:nvPr/>
        </p:nvGrpSpPr>
        <p:grpSpPr>
          <a:xfrm>
            <a:off x="5429250" y="1093341"/>
            <a:ext cx="3429000" cy="5524500"/>
            <a:chOff x="5429250" y="1238250"/>
            <a:chExt cx="3429000" cy="5524500"/>
          </a:xfrm>
        </p:grpSpPr>
        <p:sp>
          <p:nvSpPr>
            <p:cNvPr id="192" name="Google Shape;192;p29"/>
            <p:cNvSpPr/>
            <p:nvPr/>
          </p:nvSpPr>
          <p:spPr>
            <a:xfrm>
              <a:off x="5429250" y="1238250"/>
              <a:ext cx="3429000" cy="55245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3" name="Google Shape;193;p29"/>
            <p:cNvPicPr preferRelativeResize="0"/>
            <p:nvPr/>
          </p:nvPicPr>
          <p:blipFill rotWithShape="1">
            <a:blip r:embed="rId4">
              <a:alphaModFix/>
            </a:blip>
            <a:srcRect b="0" l="15095" r="3703" t="0"/>
            <a:stretch/>
          </p:blipFill>
          <p:spPr>
            <a:xfrm>
              <a:off x="5746650" y="1428773"/>
              <a:ext cx="2794200" cy="4572000"/>
            </a:xfrm>
            <a:prstGeom prst="roundRect">
              <a:avLst>
                <a:gd fmla="val 3750" name="adj"/>
              </a:avLst>
            </a:prstGeom>
            <a:noFill/>
            <a:ln>
              <a:noFill/>
            </a:ln>
          </p:spPr>
        </p:pic>
        <p:sp>
          <p:nvSpPr>
            <p:cNvPr id="194" name="Google Shape;194;p29"/>
            <p:cNvSpPr txBox="1"/>
            <p:nvPr/>
          </p:nvSpPr>
          <p:spPr>
            <a:xfrm>
              <a:off x="5429250" y="619125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Evaluation Workflow</a:t>
              </a:r>
              <a:endParaRPr b="0" i="0" sz="12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/>
        </p:nvSpPr>
        <p:spPr>
          <a:xfrm>
            <a:off x="19450" y="0"/>
            <a:ext cx="64980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Performance Rankings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1" name="Google Shape;201;p30"/>
          <p:cNvGrpSpPr/>
          <p:nvPr/>
        </p:nvGrpSpPr>
        <p:grpSpPr>
          <a:xfrm>
            <a:off x="381000" y="1333500"/>
            <a:ext cx="4572000" cy="4381500"/>
            <a:chOff x="381000" y="1333500"/>
            <a:chExt cx="4572000" cy="4381500"/>
          </a:xfrm>
        </p:grpSpPr>
        <p:sp>
          <p:nvSpPr>
            <p:cNvPr id="202" name="Google Shape;202;p30"/>
            <p:cNvSpPr/>
            <p:nvPr/>
          </p:nvSpPr>
          <p:spPr>
            <a:xfrm>
              <a:off x="381000" y="1333500"/>
              <a:ext cx="4572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0"/>
            <p:cNvSpPr/>
            <p:nvPr/>
          </p:nvSpPr>
          <p:spPr>
            <a:xfrm>
              <a:off x="381000" y="1333500"/>
              <a:ext cx="76200" cy="13335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0"/>
            <p:cNvSpPr txBox="1"/>
            <p:nvPr/>
          </p:nvSpPr>
          <p:spPr>
            <a:xfrm>
              <a:off x="571500" y="1333500"/>
              <a:ext cx="4191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10B98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1st Place • 91.3%</a:t>
              </a:r>
              <a:endParaRPr b="1" i="0" sz="1100" u="none" cap="none" strike="noStrike">
                <a:solidFill>
                  <a:srgbClr val="10B98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Claude 3.7 Sonnet</a:t>
              </a:r>
              <a:endParaRPr b="1" i="0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Dominates in structured prompts (96.1%), algorithms, and debugging. Best for precision-oriented tasks.</a:t>
              </a:r>
              <a:endParaRPr b="0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381000" y="2857500"/>
              <a:ext cx="4572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381000" y="2857500"/>
              <a:ext cx="76200" cy="13335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0"/>
            <p:cNvSpPr txBox="1"/>
            <p:nvPr/>
          </p:nvSpPr>
          <p:spPr>
            <a:xfrm>
              <a:off x="571500" y="2857500"/>
              <a:ext cx="4191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2nd Place • 88.6%</a:t>
              </a:r>
              <a:endParaRPr b="1" i="0" sz="1100" u="none" cap="none" strike="noStrike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Kimi K2 Instruct</a:t>
              </a:r>
              <a:endParaRPr b="1" i="0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Surpassed top Western models like Gemini 2.0 and GPT-4o. Exceptionally balanced across all metrics.</a:t>
              </a:r>
              <a:endParaRPr b="0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381000" y="4381500"/>
              <a:ext cx="4572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0"/>
            <p:cNvSpPr/>
            <p:nvPr/>
          </p:nvSpPr>
          <p:spPr>
            <a:xfrm>
              <a:off x="381000" y="4381500"/>
              <a:ext cx="76200" cy="13335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0"/>
            <p:cNvSpPr txBox="1"/>
            <p:nvPr/>
          </p:nvSpPr>
          <p:spPr>
            <a:xfrm>
              <a:off x="571500" y="4381500"/>
              <a:ext cx="4191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3B82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3rd Place • 87.0%</a:t>
              </a:r>
              <a:endParaRPr b="1" i="0" sz="11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Gemini 2.0 Flash</a:t>
              </a:r>
              <a:endParaRPr b="1" i="0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Strong optimizer, highly cost-efficient and fast.</a:t>
              </a:r>
              <a:endParaRPr b="0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1" name="Google Shape;211;p30"/>
          <p:cNvSpPr/>
          <p:nvPr/>
        </p:nvSpPr>
        <p:spPr>
          <a:xfrm>
            <a:off x="5143500" y="1333500"/>
            <a:ext cx="3619500" cy="4381500"/>
          </a:xfrm>
          <a:prstGeom prst="roundRect">
            <a:avLst>
              <a:gd fmla="val 421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0"/>
          <p:cNvPicPr preferRelativeResize="0"/>
          <p:nvPr/>
        </p:nvPicPr>
        <p:blipFill rotWithShape="1">
          <a:blip r:embed="rId3">
            <a:alphaModFix/>
          </a:blip>
          <a:srcRect b="0" l="10079" r="5930" t="0"/>
          <a:stretch/>
        </p:blipFill>
        <p:spPr>
          <a:xfrm>
            <a:off x="5206650" y="1649025"/>
            <a:ext cx="3493200" cy="2926200"/>
          </a:xfrm>
          <a:prstGeom prst="roundRect">
            <a:avLst>
              <a:gd fmla="val 3428" name="adj"/>
            </a:avLst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/>
        </p:nvSpPr>
        <p:spPr>
          <a:xfrm>
            <a:off x="5143500" y="5048250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Capability Analysis</a:t>
            </a:r>
            <a:endParaRPr b="0" i="0" sz="1200" u="none" cap="none" strike="noStrike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31"/>
          <p:cNvGrpSpPr/>
          <p:nvPr/>
        </p:nvGrpSpPr>
        <p:grpSpPr>
          <a:xfrm>
            <a:off x="0" y="0"/>
            <a:ext cx="8763000" cy="1396600"/>
            <a:chOff x="0" y="0"/>
            <a:chExt cx="8763000" cy="1396600"/>
          </a:xfrm>
        </p:grpSpPr>
        <p:sp>
          <p:nvSpPr>
            <p:cNvPr id="220" name="Google Shape;220;p31"/>
            <p:cNvSpPr txBox="1"/>
            <p:nvPr/>
          </p:nvSpPr>
          <p:spPr>
            <a:xfrm>
              <a:off x="0" y="0"/>
              <a:ext cx="6530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1143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Prompt Sensitivity Analysis</a:t>
              </a:r>
              <a:endParaRPr b="1" sz="30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31"/>
            <p:cNvSpPr txBox="1"/>
            <p:nvPr/>
          </p:nvSpPr>
          <p:spPr>
            <a:xfrm>
              <a:off x="381000" y="11107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Evaluating model robustness when user prompts transition from structured to minimal.</a:t>
              </a:r>
              <a:endParaRPr b="0" sz="16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2" name="Google Shape;222;p31"/>
          <p:cNvGrpSpPr/>
          <p:nvPr/>
        </p:nvGrpSpPr>
        <p:grpSpPr>
          <a:xfrm>
            <a:off x="381000" y="1650050"/>
            <a:ext cx="5334000" cy="3191025"/>
            <a:chOff x="381000" y="1333500"/>
            <a:chExt cx="5334000" cy="3191025"/>
          </a:xfrm>
        </p:grpSpPr>
        <p:sp>
          <p:nvSpPr>
            <p:cNvPr id="223" name="Google Shape;223;p31"/>
            <p:cNvSpPr/>
            <p:nvPr/>
          </p:nvSpPr>
          <p:spPr>
            <a:xfrm>
              <a:off x="381000" y="1333500"/>
              <a:ext cx="53340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4" name="Google Shape;224;p31"/>
            <p:cNvPicPr preferRelativeResize="0"/>
            <p:nvPr/>
          </p:nvPicPr>
          <p:blipFill rotWithShape="1">
            <a:blip r:embed="rId4">
              <a:alphaModFix/>
            </a:blip>
            <a:srcRect b="0" l="6213" r="3875" t="0"/>
            <a:stretch/>
          </p:blipFill>
          <p:spPr>
            <a:xfrm>
              <a:off x="505200" y="1547888"/>
              <a:ext cx="5085600" cy="228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31"/>
            <p:cNvSpPr txBox="1"/>
            <p:nvPr/>
          </p:nvSpPr>
          <p:spPr>
            <a:xfrm>
              <a:off x="381000" y="4238625"/>
              <a:ext cx="533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Composite Score (%) across Structured, Semi-Structured, and Minimal Tiers</a:t>
              </a:r>
              <a:endParaRPr sz="11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6" name="Google Shape;226;p31"/>
          <p:cNvGrpSpPr/>
          <p:nvPr/>
        </p:nvGrpSpPr>
        <p:grpSpPr>
          <a:xfrm>
            <a:off x="5905500" y="1650038"/>
            <a:ext cx="2857500" cy="2857500"/>
            <a:chOff x="5905500" y="1333500"/>
            <a:chExt cx="2857500" cy="2857500"/>
          </a:xfrm>
        </p:grpSpPr>
        <p:grpSp>
          <p:nvGrpSpPr>
            <p:cNvPr id="227" name="Google Shape;227;p31"/>
            <p:cNvGrpSpPr/>
            <p:nvPr/>
          </p:nvGrpSpPr>
          <p:grpSpPr>
            <a:xfrm>
              <a:off x="5905500" y="1333500"/>
              <a:ext cx="2857500" cy="1333500"/>
              <a:chOff x="5905500" y="1333500"/>
              <a:chExt cx="2857500" cy="1333500"/>
            </a:xfrm>
          </p:grpSpPr>
          <p:sp>
            <p:nvSpPr>
              <p:cNvPr id="228" name="Google Shape;228;p31"/>
              <p:cNvSpPr/>
              <p:nvPr/>
            </p:nvSpPr>
            <p:spPr>
              <a:xfrm>
                <a:off x="5905500" y="1333500"/>
                <a:ext cx="28575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31"/>
              <p:cNvSpPr/>
              <p:nvPr/>
            </p:nvSpPr>
            <p:spPr>
              <a:xfrm>
                <a:off x="5905500" y="1333500"/>
                <a:ext cx="762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31"/>
              <p:cNvSpPr txBox="1"/>
              <p:nvPr/>
            </p:nvSpPr>
            <p:spPr>
              <a:xfrm>
                <a:off x="6096000" y="1333500"/>
                <a:ext cx="25719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10B98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MOST ROBUST</a:t>
                </a:r>
                <a:endParaRPr b="1" sz="1000">
                  <a:solidFill>
                    <a:srgbClr val="10B98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Kimi K2 Instruct</a:t>
                </a:r>
                <a:endParaRPr b="1" sz="16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Only a 1.7% drop. Incredible at detecting user intent with minimal context.</a:t>
                </a:r>
                <a:endParaRPr b="0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1" name="Google Shape;231;p31"/>
            <p:cNvGrpSpPr/>
            <p:nvPr/>
          </p:nvGrpSpPr>
          <p:grpSpPr>
            <a:xfrm>
              <a:off x="5905500" y="2857500"/>
              <a:ext cx="2857500" cy="1333500"/>
              <a:chOff x="5905500" y="2857500"/>
              <a:chExt cx="2857500" cy="1333500"/>
            </a:xfrm>
          </p:grpSpPr>
          <p:sp>
            <p:nvSpPr>
              <p:cNvPr id="232" name="Google Shape;232;p31"/>
              <p:cNvSpPr/>
              <p:nvPr/>
            </p:nvSpPr>
            <p:spPr>
              <a:xfrm>
                <a:off x="5905500" y="2857500"/>
                <a:ext cx="28575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31"/>
              <p:cNvSpPr/>
              <p:nvPr/>
            </p:nvSpPr>
            <p:spPr>
              <a:xfrm>
                <a:off x="5905500" y="2857500"/>
                <a:ext cx="762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31"/>
              <p:cNvSpPr txBox="1"/>
              <p:nvPr/>
            </p:nvSpPr>
            <p:spPr>
              <a:xfrm>
                <a:off x="6096000" y="2857500"/>
                <a:ext cx="25719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EF444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HIGHLY SENSITIVE</a:t>
                </a:r>
                <a:endParaRPr b="1" sz="1000">
                  <a:solidFill>
                    <a:srgbClr val="EF444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GPT-4o &amp; Claude 3.7</a:t>
                </a:r>
                <a:endParaRPr b="1" sz="16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Suffered massive drops (12.6% and 11.1%) when given minimal prompts.</a:t>
                </a:r>
                <a:endParaRPr b="0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35" name="Google Shape;235;p31"/>
          <p:cNvGrpSpPr/>
          <p:nvPr/>
        </p:nvGrpSpPr>
        <p:grpSpPr>
          <a:xfrm>
            <a:off x="381000" y="5252800"/>
            <a:ext cx="8382000" cy="952500"/>
            <a:chOff x="381000" y="4667250"/>
            <a:chExt cx="8382000" cy="952500"/>
          </a:xfrm>
        </p:grpSpPr>
        <p:sp>
          <p:nvSpPr>
            <p:cNvPr id="236" name="Google Shape;236;p31"/>
            <p:cNvSpPr/>
            <p:nvPr/>
          </p:nvSpPr>
          <p:spPr>
            <a:xfrm>
              <a:off x="381000" y="4667250"/>
              <a:ext cx="8382000" cy="952500"/>
            </a:xfrm>
            <a:prstGeom prst="roundRect">
              <a:avLst>
                <a:gd fmla="val 12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1"/>
            <p:cNvSpPr txBox="1"/>
            <p:nvPr/>
          </p:nvSpPr>
          <p:spPr>
            <a:xfrm>
              <a:off x="762000" y="4667250"/>
              <a:ext cx="762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TAKEAWAY</a:t>
              </a:r>
              <a:endParaRPr b="1" sz="1200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GPT-4o requires strict prompt engineering to be effective; </a:t>
              </a:r>
              <a:r>
                <a:rPr b="1" lang="en-US" sz="1800">
                  <a:solidFill>
                    <a:srgbClr val="10B98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Kimi K2 does not.</a:t>
              </a:r>
              <a:endParaRPr b="0" sz="1800">
                <a:solidFill>
                  <a:srgbClr val="F8FAF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/>
        </p:nvSpPr>
        <p:spPr>
          <a:xfrm>
            <a:off x="19450" y="0"/>
            <a:ext cx="6478500" cy="8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Specifics &amp; Latency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4" name="Google Shape;244;p32"/>
          <p:cNvGrpSpPr/>
          <p:nvPr/>
        </p:nvGrpSpPr>
        <p:grpSpPr>
          <a:xfrm>
            <a:off x="401200" y="1358263"/>
            <a:ext cx="5715000" cy="3333900"/>
            <a:chOff x="381000" y="1143000"/>
            <a:chExt cx="5715000" cy="3333900"/>
          </a:xfrm>
        </p:grpSpPr>
        <p:sp>
          <p:nvSpPr>
            <p:cNvPr id="245" name="Google Shape;245;p32"/>
            <p:cNvSpPr/>
            <p:nvPr/>
          </p:nvSpPr>
          <p:spPr>
            <a:xfrm>
              <a:off x="381000" y="1143000"/>
              <a:ext cx="57150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6" name="Google Shape;246;p32"/>
            <p:cNvPicPr preferRelativeResize="0"/>
            <p:nvPr/>
          </p:nvPicPr>
          <p:blipFill rotWithShape="1">
            <a:blip r:embed="rId3">
              <a:alphaModFix/>
            </a:blip>
            <a:srcRect b="0" l="3177" r="1403" t="0"/>
            <a:stretch/>
          </p:blipFill>
          <p:spPr>
            <a:xfrm>
              <a:off x="491850" y="1381200"/>
              <a:ext cx="5493300" cy="2857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7" name="Google Shape;247;p32"/>
          <p:cNvGrpSpPr/>
          <p:nvPr/>
        </p:nvGrpSpPr>
        <p:grpSpPr>
          <a:xfrm>
            <a:off x="6286500" y="1358263"/>
            <a:ext cx="2476500" cy="1571700"/>
            <a:chOff x="6286500" y="1143000"/>
            <a:chExt cx="2476500" cy="1571700"/>
          </a:xfrm>
        </p:grpSpPr>
        <p:sp>
          <p:nvSpPr>
            <p:cNvPr id="248" name="Google Shape;248;p32"/>
            <p:cNvSpPr/>
            <p:nvPr/>
          </p:nvSpPr>
          <p:spPr>
            <a:xfrm>
              <a:off x="6286500" y="1143000"/>
              <a:ext cx="2476500" cy="15717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2"/>
            <p:cNvSpPr txBox="1"/>
            <p:nvPr/>
          </p:nvSpPr>
          <p:spPr>
            <a:xfrm>
              <a:off x="6429375" y="1238250"/>
              <a:ext cx="21909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SPEED VS. SPECIALIZATION</a:t>
              </a:r>
              <a:endParaRPr b="1" sz="1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B82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Algorithms &amp; Debugging:</a:t>
              </a:r>
              <a:r>
                <a:rPr b="0" lang="en-US" sz="10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Claude 3.7 Sonnet leads (94.2% &amp; 95.0%).</a:t>
              </a:r>
              <a:endParaRPr b="0" sz="10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0B98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Documentation:</a:t>
              </a:r>
              <a:r>
                <a:rPr b="0" lang="en-US" sz="10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Kimi K2 Instruct takes the crown (91.2%).</a:t>
              </a:r>
              <a:endParaRPr b="0" sz="10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0" name="Google Shape;250;p32"/>
          <p:cNvGrpSpPr/>
          <p:nvPr/>
        </p:nvGrpSpPr>
        <p:grpSpPr>
          <a:xfrm>
            <a:off x="6286500" y="3120475"/>
            <a:ext cx="2476500" cy="1571700"/>
            <a:chOff x="6286500" y="2905125"/>
            <a:chExt cx="2476500" cy="1571700"/>
          </a:xfrm>
        </p:grpSpPr>
        <p:sp>
          <p:nvSpPr>
            <p:cNvPr id="251" name="Google Shape;251;p32"/>
            <p:cNvSpPr/>
            <p:nvPr/>
          </p:nvSpPr>
          <p:spPr>
            <a:xfrm>
              <a:off x="6286500" y="2905125"/>
              <a:ext cx="2476500" cy="1571700"/>
            </a:xfrm>
            <a:prstGeom prst="roundRect">
              <a:avLst>
                <a:gd fmla="val 7272" name="adj"/>
              </a:avLst>
            </a:prstGeom>
            <a:solidFill>
              <a:srgbClr val="ECFDF5">
                <a:alpha val="50000"/>
              </a:srgbClr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2"/>
            <p:cNvSpPr txBox="1"/>
            <p:nvPr/>
          </p:nvSpPr>
          <p:spPr>
            <a:xfrm>
              <a:off x="6429375" y="3000375"/>
              <a:ext cx="21909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65F4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FASTEST MODELS</a:t>
              </a:r>
              <a:endParaRPr b="1" sz="1200">
                <a:solidFill>
                  <a:srgbClr val="065F4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4785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3.2s – 3.9s</a:t>
              </a:r>
              <a:endParaRPr b="1" sz="1800">
                <a:solidFill>
                  <a:srgbClr val="04785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65F4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MiniMax-M2 &amp; GLM-4-Plus. Ideal for interactive, low-latency loops.</a:t>
              </a:r>
              <a:endParaRPr b="0" sz="1000">
                <a:solidFill>
                  <a:srgbClr val="065F4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3" name="Google Shape;253;p32"/>
          <p:cNvGrpSpPr/>
          <p:nvPr/>
        </p:nvGrpSpPr>
        <p:grpSpPr>
          <a:xfrm>
            <a:off x="381008" y="5004700"/>
            <a:ext cx="8382191" cy="1143000"/>
            <a:chOff x="381000" y="4419125"/>
            <a:chExt cx="8572500" cy="1143000"/>
          </a:xfrm>
        </p:grpSpPr>
        <p:sp>
          <p:nvSpPr>
            <p:cNvPr id="254" name="Google Shape;254;p32"/>
            <p:cNvSpPr/>
            <p:nvPr/>
          </p:nvSpPr>
          <p:spPr>
            <a:xfrm>
              <a:off x="381000" y="4419125"/>
              <a:ext cx="8572500" cy="1143000"/>
            </a:xfrm>
            <a:prstGeom prst="roundRect">
              <a:avLst>
                <a:gd fmla="val 1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2"/>
            <p:cNvSpPr txBox="1"/>
            <p:nvPr/>
          </p:nvSpPr>
          <p:spPr>
            <a:xfrm>
              <a:off x="761898" y="4419125"/>
              <a:ext cx="7810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SLOWEST PERFORMER</a:t>
              </a:r>
              <a:endParaRPr b="1" sz="1200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8FAF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GPT-4o (7.2s).</a:t>
              </a:r>
              <a:r>
                <a:rPr b="0" lang="en-US" sz="1600">
                  <a:solidFill>
                    <a:srgbClr val="CBD5E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Generates the highest token count due to wordy explanations.</a:t>
              </a:r>
              <a:endParaRPr b="1" sz="1200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/>
        </p:nvSpPr>
        <p:spPr>
          <a:xfrm>
            <a:off x="0" y="0"/>
            <a:ext cx="6550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1143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Deployment Recommendations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381000" y="952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Model Should You Use?</a:t>
            </a:r>
            <a:endParaRPr b="1" sz="28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3" name="Google Shape;263;p33"/>
          <p:cNvGrpSpPr/>
          <p:nvPr/>
        </p:nvGrpSpPr>
        <p:grpSpPr>
          <a:xfrm>
            <a:off x="381000" y="1524000"/>
            <a:ext cx="4095900" cy="1428900"/>
            <a:chOff x="381000" y="1524000"/>
            <a:chExt cx="4095900" cy="1428900"/>
          </a:xfrm>
        </p:grpSpPr>
        <p:sp>
          <p:nvSpPr>
            <p:cNvPr id="264" name="Google Shape;264;p33"/>
            <p:cNvSpPr/>
            <p:nvPr/>
          </p:nvSpPr>
          <p:spPr>
            <a:xfrm>
              <a:off x="381000" y="15240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381000" y="1524000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3"/>
            <p:cNvSpPr txBox="1"/>
            <p:nvPr/>
          </p:nvSpPr>
          <p:spPr>
            <a:xfrm>
              <a:off x="619125" y="1524000"/>
              <a:ext cx="3667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B82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COMPLEX DEBUGGING &amp; ALGORITHMS</a:t>
              </a:r>
              <a:endParaRPr b="1" sz="1000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Claude 3.7 Sonnet</a:t>
              </a:r>
              <a:endParaRPr b="1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premier choice for intricate logic and high-tier coding tasks.</a:t>
              </a:r>
              <a:endParaRPr b="0"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7" name="Google Shape;267;p33"/>
          <p:cNvGrpSpPr/>
          <p:nvPr/>
        </p:nvGrpSpPr>
        <p:grpSpPr>
          <a:xfrm>
            <a:off x="4667250" y="1524000"/>
            <a:ext cx="4095900" cy="1428900"/>
            <a:chOff x="4667250" y="1524000"/>
            <a:chExt cx="4095900" cy="1428900"/>
          </a:xfrm>
        </p:grpSpPr>
        <p:sp>
          <p:nvSpPr>
            <p:cNvPr id="268" name="Google Shape;268;p33"/>
            <p:cNvSpPr/>
            <p:nvPr/>
          </p:nvSpPr>
          <p:spPr>
            <a:xfrm>
              <a:off x="4667250" y="15240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4667250" y="1524000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3"/>
            <p:cNvSpPr txBox="1"/>
            <p:nvPr/>
          </p:nvSpPr>
          <p:spPr>
            <a:xfrm>
              <a:off x="4905375" y="1524000"/>
              <a:ext cx="3667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0B98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ROBUSTNESS &amp; LOW-CONTEXT</a:t>
              </a:r>
              <a:endParaRPr b="1" sz="1000">
                <a:solidFill>
                  <a:srgbClr val="10B98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Kimi K2 Instruct</a:t>
              </a:r>
              <a:endParaRPr b="1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Best for teams with inconsistent prompting habits; highest statistical robustness.</a:t>
              </a:r>
              <a:endParaRPr b="0"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1" name="Google Shape;271;p33"/>
          <p:cNvGrpSpPr/>
          <p:nvPr/>
        </p:nvGrpSpPr>
        <p:grpSpPr>
          <a:xfrm>
            <a:off x="381000" y="3095625"/>
            <a:ext cx="4095900" cy="1428900"/>
            <a:chOff x="381000" y="3095625"/>
            <a:chExt cx="4095900" cy="1428900"/>
          </a:xfrm>
        </p:grpSpPr>
        <p:sp>
          <p:nvSpPr>
            <p:cNvPr id="272" name="Google Shape;272;p33"/>
            <p:cNvSpPr/>
            <p:nvPr/>
          </p:nvSpPr>
          <p:spPr>
            <a:xfrm>
              <a:off x="381000" y="3095625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381000" y="3095625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3"/>
            <p:cNvSpPr txBox="1"/>
            <p:nvPr/>
          </p:nvSpPr>
          <p:spPr>
            <a:xfrm>
              <a:off x="619125" y="3095625"/>
              <a:ext cx="3667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B5C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AUTOMATED DOCUMENTATION</a:t>
              </a:r>
              <a:endParaRPr b="1" sz="1000">
                <a:solidFill>
                  <a:srgbClr val="8B5CF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Kimi K2 Instruct</a:t>
              </a:r>
              <a:endParaRPr b="1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Optimized for structure and clarity in technical writing tasks.</a:t>
              </a:r>
              <a:endParaRPr b="0"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5" name="Google Shape;275;p33"/>
          <p:cNvGrpSpPr/>
          <p:nvPr/>
        </p:nvGrpSpPr>
        <p:grpSpPr>
          <a:xfrm>
            <a:off x="4667250" y="3095625"/>
            <a:ext cx="4095900" cy="1428900"/>
            <a:chOff x="4667250" y="3095625"/>
            <a:chExt cx="4095900" cy="1428900"/>
          </a:xfrm>
        </p:grpSpPr>
        <p:sp>
          <p:nvSpPr>
            <p:cNvPr id="276" name="Google Shape;276;p33"/>
            <p:cNvSpPr/>
            <p:nvPr/>
          </p:nvSpPr>
          <p:spPr>
            <a:xfrm>
              <a:off x="4667250" y="3095625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3"/>
            <p:cNvSpPr/>
            <p:nvPr/>
          </p:nvSpPr>
          <p:spPr>
            <a:xfrm>
              <a:off x="4667250" y="3095625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3"/>
            <p:cNvSpPr txBox="1"/>
            <p:nvPr/>
          </p:nvSpPr>
          <p:spPr>
            <a:xfrm>
              <a:off x="4905375" y="3095625"/>
              <a:ext cx="3667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BUDGET OPTIMIZATION</a:t>
              </a:r>
              <a:endParaRPr b="1" sz="1000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Gemini 2.0 Flash / GLM-4-Plus</a:t>
              </a:r>
              <a:endParaRPr b="1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performance at a lower cost point for repetitive code tasks.</a:t>
              </a:r>
              <a:endParaRPr b="0"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9" name="Google Shape;279;p33"/>
          <p:cNvGrpSpPr/>
          <p:nvPr/>
        </p:nvGrpSpPr>
        <p:grpSpPr>
          <a:xfrm>
            <a:off x="381000" y="4667250"/>
            <a:ext cx="8382000" cy="1143000"/>
            <a:chOff x="381000" y="4667250"/>
            <a:chExt cx="8382000" cy="1143000"/>
          </a:xfrm>
        </p:grpSpPr>
        <p:sp>
          <p:nvSpPr>
            <p:cNvPr id="280" name="Google Shape;280;p33"/>
            <p:cNvSpPr/>
            <p:nvPr/>
          </p:nvSpPr>
          <p:spPr>
            <a:xfrm>
              <a:off x="381000" y="4667250"/>
              <a:ext cx="8382000" cy="1143000"/>
            </a:xfrm>
            <a:prstGeom prst="roundRect">
              <a:avLst>
                <a:gd fmla="val 1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3"/>
            <p:cNvSpPr txBox="1"/>
            <p:nvPr/>
          </p:nvSpPr>
          <p:spPr>
            <a:xfrm>
              <a:off x="762000" y="4667250"/>
              <a:ext cx="762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HIGH-SPEED INTERACTIVE DEV</a:t>
              </a:r>
              <a:endParaRPr b="1" sz="1200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8FAF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MiniMax-M2</a:t>
              </a:r>
              <a:endParaRPr b="0" sz="2000">
                <a:solidFill>
                  <a:srgbClr val="F8FAF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ideal choice for ultra-low latency interactive development loops.</a:t>
              </a:r>
              <a:endParaRPr b="0" sz="140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7" name="Google Shape;287;p34"/>
          <p:cNvGrpSpPr/>
          <p:nvPr/>
        </p:nvGrpSpPr>
        <p:grpSpPr>
          <a:xfrm>
            <a:off x="2667000" y="2286000"/>
            <a:ext cx="3810000" cy="1428900"/>
            <a:chOff x="2667000" y="2286000"/>
            <a:chExt cx="3810000" cy="1428900"/>
          </a:xfrm>
        </p:grpSpPr>
        <p:sp>
          <p:nvSpPr>
            <p:cNvPr id="288" name="Google Shape;288;p34"/>
            <p:cNvSpPr/>
            <p:nvPr/>
          </p:nvSpPr>
          <p:spPr>
            <a:xfrm>
              <a:off x="2667000" y="2286000"/>
              <a:ext cx="38100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4"/>
            <p:cNvSpPr txBox="1"/>
            <p:nvPr/>
          </p:nvSpPr>
          <p:spPr>
            <a:xfrm>
              <a:off x="2667000" y="228600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  <a:endParaRPr b="1" sz="4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